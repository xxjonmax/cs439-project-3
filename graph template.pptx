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2" r:id="rId5"/>
    <p:sldId id="260" r:id="rId6"/>
    <p:sldId id="263" r:id="rId7"/>
    <p:sldId id="264" r:id="rId8"/>
    <p:sldId id="265" r:id="rId9"/>
    <p:sldId id="257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8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390CB2-C24C-4E4C-ACE3-BB520F66AC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AFA1EB-7727-4A37-9DCC-FD2310983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0043C9-DE6A-411A-A3BC-9A0834BCF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505A-A522-4547-84BA-CADC9127FAA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E0F75D-0C44-4685-801D-0B6B7D8F5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8D626D-8E1B-4E48-AE5B-6F5959D8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7317-8D92-4DB4-AEBE-199FFCFF3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66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76B633-3229-42B4-A658-1A1DB39F8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23ED5F-B126-4218-92E9-66131CC45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02CFF9-BE9C-400F-A259-88F7A18DF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505A-A522-4547-84BA-CADC9127FAA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16BA7A-63E8-4ED0-87C0-44FBA8949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7B0CF7-7BFE-4406-8B97-323E0988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7317-8D92-4DB4-AEBE-199FFCFF3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69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F67177-5949-432C-AF04-F9F6C12A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708725-FBEC-41E7-BCF1-DBB6A0721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62C3CC-4414-422A-83D0-75FC42006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505A-A522-4547-84BA-CADC9127FAA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844584-ED90-4828-8F6D-077BDCFE9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D2EB7E-449A-4473-AC80-EF8850099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7317-8D92-4DB4-AEBE-199FFCFF3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23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8DC252-D5A5-4B72-B050-8AB63D3B1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5C87E0-E71C-4239-A91E-E8C3F4EF97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F1503E-9A81-4454-9C27-01EE7D882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D1F201-72C6-41B8-9167-41B2B082C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505A-A522-4547-84BA-CADC9127FAA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FD3CF6-F23E-49B5-A3BB-11E87621D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20BE2A-9265-49AC-B178-C4C64F018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7317-8D92-4DB4-AEBE-199FFCFF3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66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3A8F6D-F297-4BBD-B92E-BA239974E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E60E44-7EAA-455B-9739-6EFA4D49D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A10A4E-293D-4F25-81B3-7D8EB60F2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193595E-28F0-416F-8B83-A11F24811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CF6154D-6B69-4712-A4F1-ED39090AF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02B366-6F0F-4D6F-B430-FE90165D3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505A-A522-4547-84BA-CADC9127FAA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73634A3-7B6D-4711-A075-3ABF56777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7841C96-2F5F-47E6-8177-7E238F747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7317-8D92-4DB4-AEBE-199FFCFF3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97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BFCA1-9F35-4781-B7CA-B15A4D6D3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2EAC8A-570B-401C-B2A5-92CB8E9D6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505A-A522-4547-84BA-CADC9127FAA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0D3BE6-27AB-46A2-9F3F-E954C6E03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6D84DA-A049-4652-B729-EB44E1354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7317-8D92-4DB4-AEBE-199FFCFF3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99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00F2E62-400E-4E9D-81A0-7B62E6035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505A-A522-4547-84BA-CADC9127FAA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33CCD44-90C2-46F1-B654-448FE3D22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C80268-D6F9-42D3-B1F2-BD50CE7A5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7317-8D92-4DB4-AEBE-199FFCFF3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50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7CFE50-673D-44DE-BAAB-C0352C4E9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354A89-701D-4ED7-BCFA-626FFB784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1390CC-4854-4DB9-99FA-6392FFDCD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A95999-B9F2-447B-A9CB-5636B56B1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505A-A522-4547-84BA-CADC9127FAA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26BACB-5285-49A2-949D-E82FFCC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669A60-E581-4A0A-A75E-202BCEAED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7317-8D92-4DB4-AEBE-199FFCFF3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59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B812BE-B425-4E21-976D-A60D85F2E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5BCA1AE-1D37-44B6-9396-ACE0153032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5631ED-2740-4C53-A65F-1622664AD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F2A371-A062-48EC-8070-3A3D75698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505A-A522-4547-84BA-CADC9127FAA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4F71A3-FCCC-41B4-958E-0226369F7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5ACE10-EF07-42E0-852C-E40ACBB58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7317-8D92-4DB4-AEBE-199FFCFF3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71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7FA022-DDB8-4752-8F54-39491C067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A05EE7-F326-450B-89AC-ADD1FF0D6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BF671C-0E17-431D-9E5A-0FA4F704C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505A-A522-4547-84BA-CADC9127FAA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898692-197B-4CBA-BAD2-21489A26E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CCCE34-A19F-407B-B566-3810AD2A8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7317-8D92-4DB4-AEBE-199FFCFF3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187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7A2F0B-E8C1-4EF4-B21B-E326593787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64C2B5-132D-4500-9F7E-486F608F0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BE8666-EAB9-4DAA-963B-E94A877AB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505A-A522-4547-84BA-CADC9127FAA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2C8EEA-A2F0-4811-96BE-97DC61E8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D1D97C-C97F-4B85-A2AC-FFF297B0D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7317-8D92-4DB4-AEBE-199FFCFF3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783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B714008-144F-44A4-AB31-E99441CB9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A468E5-D3F8-48B5-86FF-2B6EA3A79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662DE9-808F-400A-A9D4-5668697682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D505A-A522-4547-84BA-CADC9127FAA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58441E-4BE0-4210-B934-2F8F837EE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91338F-2104-4200-ACF6-466219AC7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87317-8D92-4DB4-AEBE-199FFCFF3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876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souqi.github.io/bibtex-converter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B9F310-1E41-4276-83C9-91F3FD70C3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CS 439 25F</a:t>
            </a:r>
            <a:br>
              <a:rPr lang="en-US" altLang="zh-CN" dirty="0"/>
            </a:br>
            <a:r>
              <a:rPr lang="en-US" altLang="zh-CN" dirty="0"/>
              <a:t>Student Assessments Graph Report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79B173-5A41-40A2-BD8F-FCD4B5EF0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11082"/>
          </a:xfrm>
        </p:spPr>
        <p:txBody>
          <a:bodyPr>
            <a:normAutofit/>
          </a:bodyPr>
          <a:lstStyle/>
          <a:p>
            <a:r>
              <a:rPr lang="en-US" dirty="0"/>
              <a:t>Group XX</a:t>
            </a:r>
          </a:p>
          <a:p>
            <a:r>
              <a:rPr lang="en-US" dirty="0"/>
              <a:t>Member {Name 1} ({NetID 1})</a:t>
            </a:r>
          </a:p>
          <a:p>
            <a:r>
              <a:rPr lang="en-US" dirty="0"/>
              <a:t>Member {Name 2} ({NetID 2})</a:t>
            </a:r>
          </a:p>
          <a:p>
            <a:r>
              <a:rPr lang="en-US" dirty="0"/>
              <a:t>Member {Name 3} ({NetID 3})</a:t>
            </a:r>
          </a:p>
          <a:p>
            <a:r>
              <a:rPr lang="en-US" dirty="0"/>
              <a:t>Date Oct XX, 2025</a:t>
            </a:r>
          </a:p>
        </p:txBody>
      </p:sp>
    </p:spTree>
    <p:extLst>
      <p:ext uri="{BB962C8B-B14F-4D97-AF65-F5344CB8AC3E}">
        <p14:creationId xmlns:p14="http://schemas.microsoft.com/office/powerpoint/2010/main" val="3036060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BB6170-7DE5-4047-A965-3D0E0BACD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Data Frames to Graphs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57B47E-032C-45D5-83D3-618FF3B184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7329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3500" b="1" dirty="0"/>
                  <a:t>Input: </a:t>
                </a:r>
                <a:r>
                  <a:rPr lang="en-US" dirty="0"/>
                  <a:t>A Data Frame containing records of students’ assessment scores in 15 Computer Science &amp; Mathematics topics. </a:t>
                </a:r>
              </a:p>
              <a:p>
                <a:r>
                  <a:rPr lang="en-US" sz="3500" b="1" dirty="0"/>
                  <a:t>Output: </a:t>
                </a:r>
                <a:r>
                  <a:rPr lang="en-US" dirty="0"/>
                  <a:t>A collection of Graphs with different thresholds. The number of vertices corresponds to the number of students. Two students are connected by an edge if their distance is less than a prespecified threshold.</a:t>
                </a:r>
              </a:p>
              <a:p>
                <a:r>
                  <a:rPr lang="en-US" sz="3500" b="1" dirty="0"/>
                  <a:t>Method: </a:t>
                </a:r>
              </a:p>
              <a:p>
                <a:pPr lvl="1"/>
                <a:r>
                  <a:rPr lang="en-US" b="1" dirty="0"/>
                  <a:t>z-Score Normalization</a:t>
                </a:r>
                <a:r>
                  <a:rPr lang="en-US" dirty="0"/>
                  <a:t>: Scores in each of the 15 assessment topics are transformed to their corresponding z-scores in that topic,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Euclidean Distance</a:t>
                </a:r>
                <a:r>
                  <a:rPr lang="en-US" dirty="0"/>
                  <a:t>: A pair of students is weighted by the Euclidean Distance between their records’ z-scores,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Weight Distance Distribution</a:t>
                </a:r>
                <a:r>
                  <a:rPr lang="en-US" dirty="0"/>
                  <a:t>: Compute the mean and standard deviation, and select the number of standard deviations to be used as a guide for edge selection.</a:t>
                </a:r>
              </a:p>
              <a:p>
                <a:pPr lvl="1"/>
                <a:r>
                  <a:rPr lang="en-US" b="1" dirty="0"/>
                  <a:t>Edge Selection</a:t>
                </a:r>
                <a:r>
                  <a:rPr lang="en-US" dirty="0"/>
                  <a:t>: A pair of students is connected by an edge if their Euclidean weight distance is less than a specified number of standard deviations less than the mean.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57B47E-032C-45D5-83D3-618FF3B184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73295"/>
              </a:xfrm>
              <a:blipFill>
                <a:blip r:embed="rId2"/>
                <a:stretch>
                  <a:fillRect l="-1333" t="-4215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225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B6FA1-128C-4647-B97E-3B3F25BB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 Description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A9B152-92D5-4B00-AF23-091D60564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940"/>
            <a:ext cx="10515600" cy="4752023"/>
          </a:xfrm>
        </p:spPr>
        <p:txBody>
          <a:bodyPr>
            <a:normAutofit/>
          </a:bodyPr>
          <a:lstStyle/>
          <a:p>
            <a:r>
              <a:rPr lang="en-US" sz="2400" dirty="0"/>
              <a:t>A short description of Student Assessments Table, Columns, Rows, and Values in each entry. (e.g., each row represents the performance of a student in an assessment questionnaire. Each column …)</a:t>
            </a:r>
          </a:p>
          <a:p>
            <a:r>
              <a:rPr lang="en-US" sz="2400" dirty="0"/>
              <a:t>For each column of the 15 Computer Science &amp; Mathematics topics, plot the distributions of 0-1 scaled scores and corresponding z-Scores, and annotate the mean and the standard deviation. Label each plot with the corresponding topic name </a:t>
            </a:r>
            <a:r>
              <a:rPr lang="en-US" sz="2000" dirty="0"/>
              <a:t>(Sample plots for “data structures”).</a:t>
            </a:r>
            <a:endParaRPr lang="en-US" sz="2400" dirty="0"/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133887B0-2EA5-4601-883B-97D60B24E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994" y="4068933"/>
            <a:ext cx="3403606" cy="2789067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6E6A4EF3-186C-4680-A1E6-C1FED552B9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8250" y="4068933"/>
            <a:ext cx="3403606" cy="278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077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B6FA1-128C-4647-B97E-3B3F25BB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Pairwise Euclidean Students Distances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A9B152-92D5-4B00-AF23-091D60564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940"/>
            <a:ext cx="10515600" cy="4752023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Global histogram of pairwise Euclidean Students distances</a:t>
            </a:r>
          </a:p>
          <a:p>
            <a:r>
              <a:rPr lang="en-US" altLang="zh-CN" sz="2400" dirty="0"/>
              <a:t>Global histogram of pairwise Euclidean Students distances,</a:t>
            </a:r>
            <a:r>
              <a:rPr lang="zh-CN" altLang="en-US" sz="2400" dirty="0"/>
              <a:t> </a:t>
            </a:r>
            <a:r>
              <a:rPr lang="en-US" altLang="zh-CN" sz="2400" dirty="0"/>
              <a:t>z-Score normalized </a:t>
            </a:r>
          </a:p>
          <a:p>
            <a:endParaRPr lang="en-US" sz="2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DE8B07-FD2C-43D5-A3A8-1EE8FE0B285F}"/>
              </a:ext>
            </a:extLst>
          </p:cNvPr>
          <p:cNvSpPr/>
          <p:nvPr/>
        </p:nvSpPr>
        <p:spPr>
          <a:xfrm>
            <a:off x="752723" y="2361537"/>
            <a:ext cx="5343277" cy="413133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684283-5A0F-402D-9C6A-0F4E80B778F4}"/>
              </a:ext>
            </a:extLst>
          </p:cNvPr>
          <p:cNvSpPr/>
          <p:nvPr/>
        </p:nvSpPr>
        <p:spPr>
          <a:xfrm>
            <a:off x="6291470" y="2361537"/>
            <a:ext cx="5343277" cy="413133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3BE8B13-080A-4BE9-97DD-A59DC2DA8840}"/>
              </a:ext>
            </a:extLst>
          </p:cNvPr>
          <p:cNvCxnSpPr>
            <a:cxnSpLocks/>
          </p:cNvCxnSpPr>
          <p:nvPr/>
        </p:nvCxnSpPr>
        <p:spPr>
          <a:xfrm flipV="1">
            <a:off x="1597264" y="2639834"/>
            <a:ext cx="0" cy="36098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E58AB63-0F1C-45EC-B6CE-5BD193C370E0}"/>
              </a:ext>
            </a:extLst>
          </p:cNvPr>
          <p:cNvCxnSpPr>
            <a:cxnSpLocks/>
          </p:cNvCxnSpPr>
          <p:nvPr/>
        </p:nvCxnSpPr>
        <p:spPr>
          <a:xfrm flipV="1">
            <a:off x="1377264" y="6006393"/>
            <a:ext cx="41091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4929540-C4C2-4D9F-AA0C-1F68F1B0EB46}"/>
              </a:ext>
            </a:extLst>
          </p:cNvPr>
          <p:cNvSpPr txBox="1"/>
          <p:nvPr/>
        </p:nvSpPr>
        <p:spPr>
          <a:xfrm>
            <a:off x="1792735" y="2411370"/>
            <a:ext cx="3740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pairwise Euclidean Students distances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533D3BD-939D-47FF-9549-C8E770CFB7E3}"/>
              </a:ext>
            </a:extLst>
          </p:cNvPr>
          <p:cNvSpPr txBox="1"/>
          <p:nvPr/>
        </p:nvSpPr>
        <p:spPr>
          <a:xfrm>
            <a:off x="1285210" y="59438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BA51F2-6F41-443E-BE0B-DA603E3AA805}"/>
              </a:ext>
            </a:extLst>
          </p:cNvPr>
          <p:cNvSpPr txBox="1"/>
          <p:nvPr/>
        </p:nvSpPr>
        <p:spPr>
          <a:xfrm>
            <a:off x="2452782" y="6080083"/>
            <a:ext cx="1958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Students Distances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7EB8FB-518C-49CE-B315-B1A0AE99CC8A}"/>
              </a:ext>
            </a:extLst>
          </p:cNvPr>
          <p:cNvSpPr txBox="1"/>
          <p:nvPr/>
        </p:nvSpPr>
        <p:spPr>
          <a:xfrm rot="16200000">
            <a:off x="813171" y="4132286"/>
            <a:ext cx="1198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Proportion</a:t>
            </a:r>
            <a:endParaRPr 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3E0A64E-B15A-4AA6-BE18-6682DFB3EF2B}"/>
              </a:ext>
            </a:extLst>
          </p:cNvPr>
          <p:cNvSpPr txBox="1"/>
          <p:nvPr/>
        </p:nvSpPr>
        <p:spPr>
          <a:xfrm>
            <a:off x="7092980" y="2411370"/>
            <a:ext cx="3850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pairwise Euclidean Students distances, </a:t>
            </a:r>
            <a:br>
              <a:rPr lang="en-US" altLang="zh-CN" dirty="0"/>
            </a:br>
            <a:r>
              <a:rPr lang="en-US" altLang="zh-CN" dirty="0"/>
              <a:t>z-Score normalized </a:t>
            </a:r>
            <a:r>
              <a:rPr lang="zh-CN" altLang="en-US" dirty="0"/>
              <a:t> </a:t>
            </a:r>
            <a:endParaRPr lang="en-US" altLang="zh-CN" dirty="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28352AA5-8C7C-4915-A87E-8AF7E7F2023C}"/>
              </a:ext>
            </a:extLst>
          </p:cNvPr>
          <p:cNvCxnSpPr>
            <a:cxnSpLocks/>
          </p:cNvCxnSpPr>
          <p:nvPr/>
        </p:nvCxnSpPr>
        <p:spPr>
          <a:xfrm flipV="1">
            <a:off x="7023530" y="2639834"/>
            <a:ext cx="0" cy="36098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1450DAB-1730-4F81-8299-2615E705109D}"/>
              </a:ext>
            </a:extLst>
          </p:cNvPr>
          <p:cNvCxnSpPr>
            <a:cxnSpLocks/>
          </p:cNvCxnSpPr>
          <p:nvPr/>
        </p:nvCxnSpPr>
        <p:spPr>
          <a:xfrm flipV="1">
            <a:off x="6803530" y="6006393"/>
            <a:ext cx="41091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9D0FD3BA-9DA1-40CC-B2E5-AC1B223D51E1}"/>
              </a:ext>
            </a:extLst>
          </p:cNvPr>
          <p:cNvSpPr txBox="1"/>
          <p:nvPr/>
        </p:nvSpPr>
        <p:spPr>
          <a:xfrm>
            <a:off x="6711476" y="59438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23E4176-EDF6-405F-9817-CA7E6A6D55AD}"/>
              </a:ext>
            </a:extLst>
          </p:cNvPr>
          <p:cNvSpPr txBox="1"/>
          <p:nvPr/>
        </p:nvSpPr>
        <p:spPr>
          <a:xfrm>
            <a:off x="7792461" y="6080083"/>
            <a:ext cx="2935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z-Score Normalized Distances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B26584E-192B-4DD1-8779-2B29C7252EB9}"/>
              </a:ext>
            </a:extLst>
          </p:cNvPr>
          <p:cNvSpPr txBox="1"/>
          <p:nvPr/>
        </p:nvSpPr>
        <p:spPr>
          <a:xfrm rot="16200000">
            <a:off x="6239437" y="4132286"/>
            <a:ext cx="1198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Proportion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597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B6FA1-128C-4647-B97E-3B3F25BB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Student_Assessment_Graph_-</a:t>
            </a:r>
            <a:r>
              <a:rPr lang="en-US" dirty="0" err="1"/>
              <a:t>xSD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A9B152-92D5-4B00-AF23-091D60564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658971" cy="4351338"/>
          </a:xfrm>
        </p:spPr>
        <p:txBody>
          <a:bodyPr>
            <a:normAutofit/>
          </a:bodyPr>
          <a:lstStyle/>
          <a:p>
            <a:r>
              <a:rPr lang="en-US" dirty="0"/>
              <a:t>For each constructed graph</a:t>
            </a:r>
          </a:p>
          <a:p>
            <a:pPr lvl="1"/>
            <a:r>
              <a:rPr lang="en-US" dirty="0"/>
              <a:t>|V| = </a:t>
            </a:r>
          </a:p>
          <a:p>
            <a:pPr lvl="1"/>
            <a:r>
              <a:rPr lang="en-US" dirty="0"/>
              <a:t>|E| =  </a:t>
            </a:r>
          </a:p>
          <a:p>
            <a:pPr lvl="1"/>
            <a:r>
              <a:rPr lang="en-US" dirty="0"/>
              <a:t>Does this graph </a:t>
            </a:r>
            <a:r>
              <a:rPr lang="en-US" altLang="zh-CN" dirty="0"/>
              <a:t>degree distribution </a:t>
            </a:r>
            <a:r>
              <a:rPr lang="en-US" dirty="0"/>
              <a:t>look like a Power Law graph?</a:t>
            </a:r>
          </a:p>
          <a:p>
            <a:pPr lvl="1"/>
            <a:r>
              <a:rPr lang="en-US" dirty="0"/>
              <a:t>Top 10% students’ NetIDs and </a:t>
            </a:r>
            <a:r>
              <a:rPr lang="en-US" dirty="0" err="1"/>
              <a:t>total_scores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|cc| =</a:t>
            </a:r>
          </a:p>
          <a:p>
            <a:pPr lvl="1"/>
            <a:r>
              <a:rPr lang="en-US" dirty="0"/>
              <a:t>Create a scatter plot, where each dot represents the number of cc with a fixed vertex size and edge size.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C4C477-712F-43F8-8495-25242006AD2A}"/>
              </a:ext>
            </a:extLst>
          </p:cNvPr>
          <p:cNvSpPr/>
          <p:nvPr/>
        </p:nvSpPr>
        <p:spPr>
          <a:xfrm>
            <a:off x="7710498" y="1491529"/>
            <a:ext cx="4296107" cy="286578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7812C15-1753-44F1-A1D3-D5D8BE91D0FD}"/>
              </a:ext>
            </a:extLst>
          </p:cNvPr>
          <p:cNvCxnSpPr>
            <a:cxnSpLocks/>
          </p:cNvCxnSpPr>
          <p:nvPr/>
        </p:nvCxnSpPr>
        <p:spPr>
          <a:xfrm flipV="1">
            <a:off x="8253770" y="1977732"/>
            <a:ext cx="0" cy="22468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E875BA2-D976-411D-B036-52BF63767A86}"/>
              </a:ext>
            </a:extLst>
          </p:cNvPr>
          <p:cNvCxnSpPr>
            <a:cxnSpLocks/>
          </p:cNvCxnSpPr>
          <p:nvPr/>
        </p:nvCxnSpPr>
        <p:spPr>
          <a:xfrm>
            <a:off x="7917233" y="3635188"/>
            <a:ext cx="382391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A65A95E-712E-49CE-8091-D64DC2FCF6B5}"/>
              </a:ext>
            </a:extLst>
          </p:cNvPr>
          <p:cNvSpPr txBox="1"/>
          <p:nvPr/>
        </p:nvSpPr>
        <p:spPr>
          <a:xfrm rot="16200000">
            <a:off x="7454525" y="2718311"/>
            <a:ext cx="1198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Proportion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D324662-6F9B-49F6-9D3A-C7DF8FA0D608}"/>
              </a:ext>
            </a:extLst>
          </p:cNvPr>
          <p:cNvSpPr txBox="1"/>
          <p:nvPr/>
        </p:nvSpPr>
        <p:spPr>
          <a:xfrm>
            <a:off x="11475690" y="366719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deg</a:t>
            </a:r>
            <a:endParaRPr 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9818D69-D007-4B2A-9513-CFE84E4E9177}"/>
              </a:ext>
            </a:extLst>
          </p:cNvPr>
          <p:cNvSpPr txBox="1"/>
          <p:nvPr/>
        </p:nvSpPr>
        <p:spPr>
          <a:xfrm>
            <a:off x="7895046" y="366719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1300B5-C7FD-4DE8-8DB9-F8CBCC091305}"/>
              </a:ext>
            </a:extLst>
          </p:cNvPr>
          <p:cNvSpPr txBox="1"/>
          <p:nvPr/>
        </p:nvSpPr>
        <p:spPr>
          <a:xfrm>
            <a:off x="7921780" y="19495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343CE24-9A1F-4779-A30A-BDA51831E7AE}"/>
              </a:ext>
            </a:extLst>
          </p:cNvPr>
          <p:cNvSpPr txBox="1"/>
          <p:nvPr/>
        </p:nvSpPr>
        <p:spPr>
          <a:xfrm>
            <a:off x="8145555" y="1595643"/>
            <a:ext cx="336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Student_Assessment_Graph_-</a:t>
            </a:r>
            <a:r>
              <a:rPr lang="en-US" dirty="0" err="1"/>
              <a:t>xSD</a:t>
            </a:r>
            <a:endParaRPr 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B04F813-E1A5-4B2D-8D0A-1269A4028A1C}"/>
              </a:ext>
            </a:extLst>
          </p:cNvPr>
          <p:cNvSpPr txBox="1"/>
          <p:nvPr/>
        </p:nvSpPr>
        <p:spPr>
          <a:xfrm>
            <a:off x="8817919" y="3672830"/>
            <a:ext cx="2022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Degree Distribution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0629575-C58A-4CCA-B3DF-9ABFC41A3DB7}"/>
              </a:ext>
            </a:extLst>
          </p:cNvPr>
          <p:cNvSpPr/>
          <p:nvPr/>
        </p:nvSpPr>
        <p:spPr>
          <a:xfrm>
            <a:off x="7710498" y="4522109"/>
            <a:ext cx="4367532" cy="226771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5402B83-4AF3-4F57-8C0C-CD8B6B1FA213}"/>
              </a:ext>
            </a:extLst>
          </p:cNvPr>
          <p:cNvCxnSpPr>
            <a:cxnSpLocks/>
          </p:cNvCxnSpPr>
          <p:nvPr/>
        </p:nvCxnSpPr>
        <p:spPr>
          <a:xfrm flipV="1">
            <a:off x="8455887" y="5008312"/>
            <a:ext cx="0" cy="15515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250B452-902E-467B-824B-D05C1CC93D81}"/>
              </a:ext>
            </a:extLst>
          </p:cNvPr>
          <p:cNvCxnSpPr>
            <a:cxnSpLocks/>
          </p:cNvCxnSpPr>
          <p:nvPr/>
        </p:nvCxnSpPr>
        <p:spPr>
          <a:xfrm>
            <a:off x="8048344" y="6349978"/>
            <a:ext cx="382391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8751C73-9232-496E-9A1C-38D98F65D21A}"/>
              </a:ext>
            </a:extLst>
          </p:cNvPr>
          <p:cNvSpPr txBox="1"/>
          <p:nvPr/>
        </p:nvSpPr>
        <p:spPr>
          <a:xfrm rot="16200000">
            <a:off x="7563241" y="5526017"/>
            <a:ext cx="1350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CC Edge Size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3464BA0-6114-4DA2-BEAF-6EFD1631F2CA}"/>
              </a:ext>
            </a:extLst>
          </p:cNvPr>
          <p:cNvSpPr txBox="1"/>
          <p:nvPr/>
        </p:nvSpPr>
        <p:spPr>
          <a:xfrm>
            <a:off x="11606801" y="6381988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|V|</a:t>
            </a:r>
            <a:endParaRPr 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8654F3-6755-4CA8-96FE-ED444AE7C418}"/>
              </a:ext>
            </a:extLst>
          </p:cNvPr>
          <p:cNvSpPr txBox="1"/>
          <p:nvPr/>
        </p:nvSpPr>
        <p:spPr>
          <a:xfrm>
            <a:off x="8026157" y="6381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E7C25B4-3CA6-4993-B19D-69E1BEB9F134}"/>
              </a:ext>
            </a:extLst>
          </p:cNvPr>
          <p:cNvSpPr txBox="1"/>
          <p:nvPr/>
        </p:nvSpPr>
        <p:spPr>
          <a:xfrm>
            <a:off x="8369729" y="4596946"/>
            <a:ext cx="336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Student_Assessment_Graph_-</a:t>
            </a:r>
            <a:r>
              <a:rPr lang="en-US" dirty="0" err="1"/>
              <a:t>xSD</a:t>
            </a:r>
            <a:endParaRPr 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3BEFBDF-0529-407D-A7A4-DE49C7B61CD8}"/>
              </a:ext>
            </a:extLst>
          </p:cNvPr>
          <p:cNvSpPr txBox="1"/>
          <p:nvPr/>
        </p:nvSpPr>
        <p:spPr>
          <a:xfrm>
            <a:off x="9414605" y="6387620"/>
            <a:ext cx="149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CC Vertex Size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42E5FF3-AE21-42B5-BD9F-33AF6D64B734}"/>
              </a:ext>
            </a:extLst>
          </p:cNvPr>
          <p:cNvSpPr txBox="1"/>
          <p:nvPr/>
        </p:nvSpPr>
        <p:spPr>
          <a:xfrm>
            <a:off x="7997472" y="4791017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|E|</a:t>
            </a:r>
            <a:endParaRPr 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4F2AC5D-F670-402C-A231-DEBC40277EDC}"/>
              </a:ext>
            </a:extLst>
          </p:cNvPr>
          <p:cNvSpPr/>
          <p:nvPr/>
        </p:nvSpPr>
        <p:spPr>
          <a:xfrm>
            <a:off x="10463917" y="5247861"/>
            <a:ext cx="118609" cy="1186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109525F-6C03-4536-BD1B-793D071C254F}"/>
              </a:ext>
            </a:extLst>
          </p:cNvPr>
          <p:cNvSpPr txBox="1"/>
          <p:nvPr/>
        </p:nvSpPr>
        <p:spPr>
          <a:xfrm>
            <a:off x="9414605" y="5319368"/>
            <a:ext cx="24593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Dot size proportional to </a:t>
            </a:r>
            <a:br>
              <a:rPr lang="en-US" dirty="0"/>
            </a:br>
            <a:r>
              <a:rPr lang="en-US" dirty="0"/>
              <a:t># cc of (|</a:t>
            </a:r>
            <a:r>
              <a:rPr lang="en-US" dirty="0" err="1"/>
              <a:t>V</a:t>
            </a:r>
            <a:r>
              <a:rPr lang="en-US" baseline="-25000" dirty="0" err="1"/>
              <a:t>cc</a:t>
            </a:r>
            <a:r>
              <a:rPr lang="en-US" dirty="0"/>
              <a:t>|, |</a:t>
            </a:r>
            <a:r>
              <a:rPr lang="en-US" dirty="0" err="1"/>
              <a:t>E</a:t>
            </a:r>
            <a:r>
              <a:rPr lang="en-US" baseline="-25000" dirty="0" err="1"/>
              <a:t>cc</a:t>
            </a:r>
            <a:r>
              <a:rPr lang="en-US" dirty="0"/>
              <a:t>|)</a:t>
            </a:r>
          </a:p>
        </p:txBody>
      </p:sp>
    </p:spTree>
    <p:extLst>
      <p:ext uri="{BB962C8B-B14F-4D97-AF65-F5344CB8AC3E}">
        <p14:creationId xmlns:p14="http://schemas.microsoft.com/office/powerpoint/2010/main" val="293676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B6FA1-128C-4647-B97E-3B3F25BB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Layouts of Student_Assessment_Graph_-3SD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A9B152-92D5-4B00-AF23-091D60564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235"/>
            <a:ext cx="10515600" cy="4745728"/>
          </a:xfrm>
        </p:spPr>
        <p:txBody>
          <a:bodyPr>
            <a:normAutofit/>
          </a:bodyPr>
          <a:lstStyle/>
          <a:p>
            <a:r>
              <a:rPr lang="en-US" sz="2400" dirty="0"/>
              <a:t>For each constructed graph, draw the </a:t>
            </a:r>
            <a:r>
              <a:rPr lang="en-US" altLang="zh-CN" sz="2400" dirty="0"/>
              <a:t>three</a:t>
            </a:r>
            <a:r>
              <a:rPr lang="en-US" sz="2400" dirty="0"/>
              <a:t> force-directed graph layouts.</a:t>
            </a:r>
          </a:p>
          <a:p>
            <a:pPr lvl="1"/>
            <a:endParaRPr lang="en-US" sz="20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C4C477-712F-43F8-8495-25242006AD2A}"/>
              </a:ext>
            </a:extLst>
          </p:cNvPr>
          <p:cNvSpPr/>
          <p:nvPr/>
        </p:nvSpPr>
        <p:spPr>
          <a:xfrm>
            <a:off x="493512" y="2027583"/>
            <a:ext cx="3585507" cy="461175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57F1ACF-A51A-4801-96F3-3535E12950C7}"/>
              </a:ext>
            </a:extLst>
          </p:cNvPr>
          <p:cNvSpPr/>
          <p:nvPr/>
        </p:nvSpPr>
        <p:spPr>
          <a:xfrm>
            <a:off x="4423707" y="2027583"/>
            <a:ext cx="3585507" cy="461175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9FB639D-5572-4AD7-B4F4-962851AAC8C6}"/>
              </a:ext>
            </a:extLst>
          </p:cNvPr>
          <p:cNvSpPr/>
          <p:nvPr/>
        </p:nvSpPr>
        <p:spPr>
          <a:xfrm>
            <a:off x="8353902" y="2027583"/>
            <a:ext cx="3585507" cy="461175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EF51A0-2710-410B-8DA2-8DEB616D0276}"/>
              </a:ext>
            </a:extLst>
          </p:cNvPr>
          <p:cNvSpPr txBox="1"/>
          <p:nvPr/>
        </p:nvSpPr>
        <p:spPr>
          <a:xfrm>
            <a:off x="993635" y="2287036"/>
            <a:ext cx="258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NetworkX.spring_layout</a:t>
            </a:r>
            <a:r>
              <a:rPr lang="en-US" altLang="zh-CN" dirty="0"/>
              <a:t>()</a:t>
            </a:r>
            <a:endParaRPr 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18F7158-A640-40D5-9310-DD5F9F57389D}"/>
              </a:ext>
            </a:extLst>
          </p:cNvPr>
          <p:cNvSpPr txBox="1"/>
          <p:nvPr/>
        </p:nvSpPr>
        <p:spPr>
          <a:xfrm>
            <a:off x="4909588" y="2287036"/>
            <a:ext cx="2619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JavaScript 2D Force Graph</a:t>
            </a:r>
            <a:endParaRPr 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F5A9FD4-DAD9-4FEF-8C20-9230DF7C1D87}"/>
              </a:ext>
            </a:extLst>
          </p:cNvPr>
          <p:cNvSpPr txBox="1"/>
          <p:nvPr/>
        </p:nvSpPr>
        <p:spPr>
          <a:xfrm>
            <a:off x="8837001" y="2287036"/>
            <a:ext cx="2619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JavaScript 3D Force Graph</a:t>
            </a:r>
            <a:endParaRPr 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659F623-63E1-4314-95E2-7E7E00E19801}"/>
              </a:ext>
            </a:extLst>
          </p:cNvPr>
          <p:cNvSpPr txBox="1"/>
          <p:nvPr/>
        </p:nvSpPr>
        <p:spPr>
          <a:xfrm>
            <a:off x="593814" y="6075668"/>
            <a:ext cx="3384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Student_Assessment_Graph_-3SD</a:t>
            </a:r>
            <a:endParaRPr 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E2D929A-AA44-405A-958A-4447AA95A6DE}"/>
              </a:ext>
            </a:extLst>
          </p:cNvPr>
          <p:cNvSpPr txBox="1"/>
          <p:nvPr/>
        </p:nvSpPr>
        <p:spPr>
          <a:xfrm>
            <a:off x="4524009" y="6075668"/>
            <a:ext cx="3384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Student_Assessment_Graph_-3SD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4F1C3BF-0592-4454-83DC-C6A63441D21F}"/>
              </a:ext>
            </a:extLst>
          </p:cNvPr>
          <p:cNvSpPr txBox="1"/>
          <p:nvPr/>
        </p:nvSpPr>
        <p:spPr>
          <a:xfrm>
            <a:off x="8454203" y="6075668"/>
            <a:ext cx="3384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Student_Assessment_Graph_-3SD</a:t>
            </a:r>
          </a:p>
        </p:txBody>
      </p:sp>
    </p:spTree>
    <p:extLst>
      <p:ext uri="{BB962C8B-B14F-4D97-AF65-F5344CB8AC3E}">
        <p14:creationId xmlns:p14="http://schemas.microsoft.com/office/powerpoint/2010/main" val="4116211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B6FA1-128C-4647-B97E-3B3F25BB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Layouts of Student_Assessment_Graph_-2SD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A9B152-92D5-4B00-AF23-091D60564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235"/>
            <a:ext cx="10515600" cy="4745728"/>
          </a:xfrm>
        </p:spPr>
        <p:txBody>
          <a:bodyPr>
            <a:normAutofit/>
          </a:bodyPr>
          <a:lstStyle/>
          <a:p>
            <a:r>
              <a:rPr lang="en-US" sz="2400" dirty="0"/>
              <a:t>For each constructed graph, draw the </a:t>
            </a:r>
            <a:r>
              <a:rPr lang="en-US" altLang="zh-CN" sz="2400" dirty="0"/>
              <a:t>three</a:t>
            </a:r>
            <a:r>
              <a:rPr lang="en-US" sz="2400" dirty="0"/>
              <a:t> force-directed graph layouts.</a:t>
            </a:r>
          </a:p>
          <a:p>
            <a:pPr lvl="1"/>
            <a:endParaRPr lang="en-US" sz="20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C4C477-712F-43F8-8495-25242006AD2A}"/>
              </a:ext>
            </a:extLst>
          </p:cNvPr>
          <p:cNvSpPr/>
          <p:nvPr/>
        </p:nvSpPr>
        <p:spPr>
          <a:xfrm>
            <a:off x="493512" y="2027583"/>
            <a:ext cx="3585507" cy="461175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57F1ACF-A51A-4801-96F3-3535E12950C7}"/>
              </a:ext>
            </a:extLst>
          </p:cNvPr>
          <p:cNvSpPr/>
          <p:nvPr/>
        </p:nvSpPr>
        <p:spPr>
          <a:xfrm>
            <a:off x="4423707" y="2027583"/>
            <a:ext cx="3585507" cy="461175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9FB639D-5572-4AD7-B4F4-962851AAC8C6}"/>
              </a:ext>
            </a:extLst>
          </p:cNvPr>
          <p:cNvSpPr/>
          <p:nvPr/>
        </p:nvSpPr>
        <p:spPr>
          <a:xfrm>
            <a:off x="8353902" y="2027583"/>
            <a:ext cx="3585507" cy="461175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EF51A0-2710-410B-8DA2-8DEB616D0276}"/>
              </a:ext>
            </a:extLst>
          </p:cNvPr>
          <p:cNvSpPr txBox="1"/>
          <p:nvPr/>
        </p:nvSpPr>
        <p:spPr>
          <a:xfrm>
            <a:off x="993635" y="2287036"/>
            <a:ext cx="258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NetworkX.spring_layout</a:t>
            </a:r>
            <a:r>
              <a:rPr lang="en-US" altLang="zh-CN" dirty="0"/>
              <a:t>()</a:t>
            </a:r>
            <a:endParaRPr 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18F7158-A640-40D5-9310-DD5F9F57389D}"/>
              </a:ext>
            </a:extLst>
          </p:cNvPr>
          <p:cNvSpPr txBox="1"/>
          <p:nvPr/>
        </p:nvSpPr>
        <p:spPr>
          <a:xfrm>
            <a:off x="4909588" y="2287036"/>
            <a:ext cx="2619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JavaScript 2D Force Graph</a:t>
            </a:r>
            <a:endParaRPr 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F5A9FD4-DAD9-4FEF-8C20-9230DF7C1D87}"/>
              </a:ext>
            </a:extLst>
          </p:cNvPr>
          <p:cNvSpPr txBox="1"/>
          <p:nvPr/>
        </p:nvSpPr>
        <p:spPr>
          <a:xfrm>
            <a:off x="8837001" y="2287036"/>
            <a:ext cx="2619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JavaScript 3D Force Graph</a:t>
            </a:r>
            <a:endParaRPr 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659F623-63E1-4314-95E2-7E7E00E19801}"/>
              </a:ext>
            </a:extLst>
          </p:cNvPr>
          <p:cNvSpPr txBox="1"/>
          <p:nvPr/>
        </p:nvSpPr>
        <p:spPr>
          <a:xfrm>
            <a:off x="593814" y="6075668"/>
            <a:ext cx="3384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Student_Assessment_Graph_-2SD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E2D929A-AA44-405A-958A-4447AA95A6DE}"/>
              </a:ext>
            </a:extLst>
          </p:cNvPr>
          <p:cNvSpPr txBox="1"/>
          <p:nvPr/>
        </p:nvSpPr>
        <p:spPr>
          <a:xfrm>
            <a:off x="4524009" y="6075668"/>
            <a:ext cx="3384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Student_Assessment_Graph_-2SD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4F1C3BF-0592-4454-83DC-C6A63441D21F}"/>
              </a:ext>
            </a:extLst>
          </p:cNvPr>
          <p:cNvSpPr txBox="1"/>
          <p:nvPr/>
        </p:nvSpPr>
        <p:spPr>
          <a:xfrm>
            <a:off x="8454203" y="6075668"/>
            <a:ext cx="3384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Student_Assessment_Graph_-2SD</a:t>
            </a:r>
          </a:p>
        </p:txBody>
      </p:sp>
    </p:spTree>
    <p:extLst>
      <p:ext uri="{BB962C8B-B14F-4D97-AF65-F5344CB8AC3E}">
        <p14:creationId xmlns:p14="http://schemas.microsoft.com/office/powerpoint/2010/main" val="2244139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B6FA1-128C-4647-B97E-3B3F25BB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Layouts of Student_Assessment_Graph_-1SD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A9B152-92D5-4B00-AF23-091D60564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235"/>
            <a:ext cx="10515600" cy="4745728"/>
          </a:xfrm>
        </p:spPr>
        <p:txBody>
          <a:bodyPr>
            <a:normAutofit/>
          </a:bodyPr>
          <a:lstStyle/>
          <a:p>
            <a:r>
              <a:rPr lang="en-US" sz="2400" dirty="0"/>
              <a:t>For each constructed graph, draw the </a:t>
            </a:r>
            <a:r>
              <a:rPr lang="en-US" altLang="zh-CN" sz="2400" dirty="0"/>
              <a:t>three</a:t>
            </a:r>
            <a:r>
              <a:rPr lang="en-US" sz="2400" dirty="0"/>
              <a:t> force-directed graph layouts.</a:t>
            </a:r>
          </a:p>
          <a:p>
            <a:pPr lvl="1"/>
            <a:endParaRPr lang="en-US" sz="20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C4C477-712F-43F8-8495-25242006AD2A}"/>
              </a:ext>
            </a:extLst>
          </p:cNvPr>
          <p:cNvSpPr/>
          <p:nvPr/>
        </p:nvSpPr>
        <p:spPr>
          <a:xfrm>
            <a:off x="493512" y="2027583"/>
            <a:ext cx="3585507" cy="461175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57F1ACF-A51A-4801-96F3-3535E12950C7}"/>
              </a:ext>
            </a:extLst>
          </p:cNvPr>
          <p:cNvSpPr/>
          <p:nvPr/>
        </p:nvSpPr>
        <p:spPr>
          <a:xfrm>
            <a:off x="4423707" y="2027583"/>
            <a:ext cx="3585507" cy="461175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9FB639D-5572-4AD7-B4F4-962851AAC8C6}"/>
              </a:ext>
            </a:extLst>
          </p:cNvPr>
          <p:cNvSpPr/>
          <p:nvPr/>
        </p:nvSpPr>
        <p:spPr>
          <a:xfrm>
            <a:off x="8353902" y="2027583"/>
            <a:ext cx="3585507" cy="461175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EF51A0-2710-410B-8DA2-8DEB616D0276}"/>
              </a:ext>
            </a:extLst>
          </p:cNvPr>
          <p:cNvSpPr txBox="1"/>
          <p:nvPr/>
        </p:nvSpPr>
        <p:spPr>
          <a:xfrm>
            <a:off x="993635" y="2287036"/>
            <a:ext cx="258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NetworkX.spring_layout</a:t>
            </a:r>
            <a:r>
              <a:rPr lang="en-US" altLang="zh-CN" dirty="0"/>
              <a:t>()</a:t>
            </a:r>
            <a:endParaRPr 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18F7158-A640-40D5-9310-DD5F9F57389D}"/>
              </a:ext>
            </a:extLst>
          </p:cNvPr>
          <p:cNvSpPr txBox="1"/>
          <p:nvPr/>
        </p:nvSpPr>
        <p:spPr>
          <a:xfrm>
            <a:off x="4909588" y="2287036"/>
            <a:ext cx="2619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JavaScript 2D Force Graph</a:t>
            </a:r>
            <a:endParaRPr 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F5A9FD4-DAD9-4FEF-8C20-9230DF7C1D87}"/>
              </a:ext>
            </a:extLst>
          </p:cNvPr>
          <p:cNvSpPr txBox="1"/>
          <p:nvPr/>
        </p:nvSpPr>
        <p:spPr>
          <a:xfrm>
            <a:off x="8837001" y="2287036"/>
            <a:ext cx="2619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JavaScript 3D Force Graph</a:t>
            </a:r>
            <a:endParaRPr 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659F623-63E1-4314-95E2-7E7E00E19801}"/>
              </a:ext>
            </a:extLst>
          </p:cNvPr>
          <p:cNvSpPr txBox="1"/>
          <p:nvPr/>
        </p:nvSpPr>
        <p:spPr>
          <a:xfrm>
            <a:off x="593814" y="6075668"/>
            <a:ext cx="3384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Student_Assessment_Graph_-1SD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E2D929A-AA44-405A-958A-4447AA95A6DE}"/>
              </a:ext>
            </a:extLst>
          </p:cNvPr>
          <p:cNvSpPr txBox="1"/>
          <p:nvPr/>
        </p:nvSpPr>
        <p:spPr>
          <a:xfrm>
            <a:off x="4524009" y="6075668"/>
            <a:ext cx="3384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Student_Assessment_Graph_-1SD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4F1C3BF-0592-4454-83DC-C6A63441D21F}"/>
              </a:ext>
            </a:extLst>
          </p:cNvPr>
          <p:cNvSpPr txBox="1"/>
          <p:nvPr/>
        </p:nvSpPr>
        <p:spPr>
          <a:xfrm>
            <a:off x="8454203" y="6075668"/>
            <a:ext cx="3384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Student_Assessment_Graph_-1SD</a:t>
            </a:r>
          </a:p>
        </p:txBody>
      </p:sp>
    </p:spTree>
    <p:extLst>
      <p:ext uri="{BB962C8B-B14F-4D97-AF65-F5344CB8AC3E}">
        <p14:creationId xmlns:p14="http://schemas.microsoft.com/office/powerpoint/2010/main" val="143754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B6FA1-128C-4647-B97E-3B3F25BB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Observations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A9B152-92D5-4B00-AF23-091D60564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the graphs exhibit visible “clusters” of similar students? Specify the “clusters” of students you found by listing their NetIDs sorted alphabetically in non-decreasing order.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1F884C26-8955-41C8-90A7-733A7CBE0B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905092"/>
              </p:ext>
            </p:extLst>
          </p:nvPr>
        </p:nvGraphicFramePr>
        <p:xfrm>
          <a:off x="0" y="3900188"/>
          <a:ext cx="12192000" cy="1854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73197109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2330405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4441405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3990049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91889429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90636407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8792483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9347498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10329480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4195232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NetID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NetID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NetID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353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4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Cluster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952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Cluster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52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283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185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B6FA1-128C-4647-B97E-3B3F25BB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Findings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A9B152-92D5-4B00-AF23-091D60564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the students in the same detected “cluster” in terms of their skill proficiency scores. Do they have “similar” high scores in certain subsets of skill proficiencies? </a:t>
            </a:r>
            <a:r>
              <a:rPr lang="en-US" dirty="0">
                <a:solidFill>
                  <a:srgbClr val="FF0000"/>
                </a:solidFill>
              </a:rPr>
              <a:t>How could you argue that your selected “clusters” of students are meaningful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35243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B6FA1-128C-4647-B97E-3B3F25BB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References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A9B152-92D5-4B00-AF23-091D60564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the libraries, tools, and book references used in this assignment.</a:t>
            </a:r>
          </a:p>
          <a:p>
            <a:r>
              <a:rPr lang="en-US" dirty="0"/>
              <a:t>You may use </a:t>
            </a:r>
            <a:r>
              <a:rPr lang="en-US" dirty="0">
                <a:hlinkClick r:id="rId2"/>
              </a:rPr>
              <a:t>this online tool</a:t>
            </a:r>
            <a:r>
              <a:rPr lang="en-US" dirty="0"/>
              <a:t> to convert the corresponding </a:t>
            </a:r>
            <a:r>
              <a:rPr lang="en-US" dirty="0" err="1"/>
              <a:t>bibtex</a:t>
            </a:r>
            <a:r>
              <a:rPr lang="en-US" dirty="0"/>
              <a:t> to the corresponding ACM citation format (example below).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550E2B-AD11-4E32-A433-2FC78BE9AE8A}"/>
              </a:ext>
            </a:extLst>
          </p:cNvPr>
          <p:cNvSpPr txBox="1"/>
          <p:nvPr/>
        </p:nvSpPr>
        <p:spPr>
          <a:xfrm>
            <a:off x="838200" y="3429000"/>
            <a:ext cx="897393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 </a:t>
            </a:r>
            <a:r>
              <a:rPr lang="en-US" dirty="0" err="1"/>
              <a:t>bibtex</a:t>
            </a:r>
            <a:r>
              <a:rPr lang="en-US" dirty="0"/>
              <a:t>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@InProceedings{SciPyProceedings_11,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author =       {Aric A. Hagberg and Daniel A. </a:t>
            </a:r>
            <a:r>
              <a:rPr lang="en-US" sz="1400" dirty="0" err="1">
                <a:latin typeface="Consolas" panose="020B0609020204030204" pitchFamily="49" charset="0"/>
              </a:rPr>
              <a:t>Schult</a:t>
            </a:r>
            <a:r>
              <a:rPr lang="en-US" sz="1400" dirty="0">
                <a:latin typeface="Consolas" panose="020B0609020204030204" pitchFamily="49" charset="0"/>
              </a:rPr>
              <a:t> and Pieter J. Swart},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title =        {Exploring Network Structure, Dynamics, and Function using </a:t>
            </a:r>
            <a:r>
              <a:rPr lang="en-US" sz="1400" dirty="0" err="1">
                <a:latin typeface="Consolas" panose="020B0609020204030204" pitchFamily="49" charset="0"/>
              </a:rPr>
              <a:t>NetworkX</a:t>
            </a:r>
            <a:r>
              <a:rPr lang="en-US" sz="1400" dirty="0">
                <a:latin typeface="Consolas" panose="020B0609020204030204" pitchFamily="49" charset="0"/>
              </a:rPr>
              <a:t>},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</a:t>
            </a:r>
            <a:r>
              <a:rPr lang="en-US" sz="1400" dirty="0" err="1">
                <a:latin typeface="Consolas" panose="020B0609020204030204" pitchFamily="49" charset="0"/>
              </a:rPr>
              <a:t>booktitle</a:t>
            </a:r>
            <a:r>
              <a:rPr lang="en-US" sz="1400" dirty="0">
                <a:latin typeface="Consolas" panose="020B0609020204030204" pitchFamily="49" charset="0"/>
              </a:rPr>
              <a:t> =   {Proceedings of the 7th Python in Science Conference},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pages =     {11 - 15},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address = {Pasadena, CA USA},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year =      {2008},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editor =    {Ga\"</a:t>
            </a:r>
            <a:r>
              <a:rPr lang="en-US" sz="1400" dirty="0" err="1">
                <a:latin typeface="Consolas" panose="020B0609020204030204" pitchFamily="49" charset="0"/>
              </a:rPr>
              <a:t>el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Varoquaux</a:t>
            </a:r>
            <a:r>
              <a:rPr lang="en-US" sz="1400" dirty="0">
                <a:latin typeface="Consolas" panose="020B0609020204030204" pitchFamily="49" charset="0"/>
              </a:rPr>
              <a:t> and Travis Vaught and Jarrod Millman},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dirty="0"/>
              <a:t>Sample ACM citation:</a:t>
            </a:r>
          </a:p>
          <a:p>
            <a:r>
              <a:rPr lang="en-US" sz="1400" b="0" i="0" dirty="0">
                <a:solidFill>
                  <a:srgbClr val="212529"/>
                </a:solidFill>
                <a:effectLst/>
                <a:latin typeface="system-ui"/>
              </a:rPr>
              <a:t>Aric A. Hagberg, Daniel A.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system-ui"/>
              </a:rPr>
              <a:t>Schult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system-ui"/>
              </a:rPr>
              <a:t>, and Pieter J. Swart. 2008. Exploring Network Structure, Dynamics, and Function using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system-ui"/>
              </a:rPr>
              <a:t>NetworkX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system-ui"/>
              </a:rPr>
              <a:t>. In </a:t>
            </a:r>
            <a:r>
              <a:rPr lang="en-US" sz="1400" b="0" i="1" dirty="0">
                <a:solidFill>
                  <a:srgbClr val="212529"/>
                </a:solidFill>
                <a:effectLst/>
                <a:latin typeface="system-ui"/>
              </a:rPr>
              <a:t>Proceedings of the 7th Python in Science Conference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system-ui"/>
              </a:rPr>
              <a:t>, Pasadena, CA USA, 11–15.</a:t>
            </a:r>
            <a:endParaRPr 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850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905</Words>
  <Application>Microsoft Office PowerPoint</Application>
  <PresentationFormat>宽屏</PresentationFormat>
  <Paragraphs>102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system-ui</vt:lpstr>
      <vt:lpstr>Arial</vt:lpstr>
      <vt:lpstr>Calibri</vt:lpstr>
      <vt:lpstr>Calibri Light</vt:lpstr>
      <vt:lpstr>Cambria Math</vt:lpstr>
      <vt:lpstr>Consolas</vt:lpstr>
      <vt:lpstr>Office 主题​​</vt:lpstr>
      <vt:lpstr>CS 439 25F Student Assessments Graph Report</vt:lpstr>
      <vt:lpstr>From Data Frames to Graphs</vt:lpstr>
      <vt:lpstr>Data Set Description </vt:lpstr>
      <vt:lpstr>Pairwise Euclidean Students Distances</vt:lpstr>
      <vt:lpstr>Student_Assessment_Graph_-xSD</vt:lpstr>
      <vt:lpstr>Layouts of Student_Assessment_Graph_-3SD</vt:lpstr>
      <vt:lpstr>Layouts of Student_Assessment_Graph_-2SD</vt:lpstr>
      <vt:lpstr>Layouts of Student_Assessment_Graph_-1SD</vt:lpstr>
      <vt:lpstr>Observations</vt:lpstr>
      <vt:lpstr>Findings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439 25F Student Assessments Graph Report</dc:title>
  <dc:creator>Haoyang Zhang</dc:creator>
  <cp:lastModifiedBy>Haoyang Zhang</cp:lastModifiedBy>
  <cp:revision>15</cp:revision>
  <dcterms:created xsi:type="dcterms:W3CDTF">2025-10-20T01:09:31Z</dcterms:created>
  <dcterms:modified xsi:type="dcterms:W3CDTF">2025-10-20T04:01:16Z</dcterms:modified>
</cp:coreProperties>
</file>